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projeté (k€)</c:v>
                </c:pt>
              </c:strCache>
            </c:strRef>
          </c:tx>
          <c:spPr>
            <a:solidFill>
              <a:srgbClr val="D98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231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
local</c:v>
                  </c:pt>
                  <c:pt idx="1">
                    <c:v>An 2
régional</c:v>
                  </c:pt>
                  <c:pt idx="2">
                    <c:v>An 3
multi-villes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384</c:v>
                </c:pt>
                <c:pt idx="2">
                  <c:v>1230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231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 ! Voici Horeca Extra, l'application que je construis. En une phrase : quand un restaurant, un café ou un hôtel a besoin de quelqu'un à la dernière minute, mon appli lui trouve un « extra » — un serveur, un plongeur, un cuisinier — disponible et vérifié, en quelques minutes. Fini les 15 coups de fil.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concept est simple : c'est un peu le « Uber » du remplacement, mais pour les cafés, hôtels et restaurants — ce qu'on appelle le secteur HORECA. Aujourd'hui c'est le chaos : on décroche son téléphone et on appelle tout le monde. Avec mon appli, le patron poste son besoin, et l'application lui propose tout de suite des remplaçants disponibles et vérifiés à côté de lui.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Construire ça, ce n'est pas une petite appli. C'est plusieurs produits qui doivent fonctionner ensemble : le site vitrine — la façade — est conçu. L'appli mobile, la vérification KBIS, le CV boosté à l'IA et la base de données sécurisée sont en cours de développement. La messagerie et le moteur de mise en relation viendront ensuite. Soyons honnêtes : le projet est en construction, pas encore lancé au grand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idées font toute la différence. La première : le CV est embelli par l'intelligence artificielle, mais le numéro de téléphone et l'e-mail sont masqués — comme ça, personne ne peut contourner l'application pour traiter en direct. C'est ce qui protège le modèle économique. La deuxième : on vérifie le KBIS, la carte d'identité officielle de chaque entreprise, pour garantir le sérieux.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Pourquoi c'est un gros marché ? En France, il y a environ 175 000 cafés, hôtels et restaurants, près d'un million de personnes qui y travaillent, et à peu près 200 000 postes qu'on n'arrive pas à pourvoir. Et le besoin existe toute l'année. Ces chiffres sont des ordres de grandeur publics, mais ils montrent que le besoin est énorme et permanent.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 ça rapporte ? De trois façons. Un : les slots premium — un petit abonnement pour les établissements qui veulent passer en priorité, c'est le revenu principal, régulier. Deux : une publicité privée dédiée, où un grand acteur national sponsorise l'appli car notre audience de pros de la restauration l'intéresse. Trois : des petits services payants en plus. Et comme le contact est masqué, personne ne peut contourner la plateforme.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le prévisionnel, et je veux être très clair : ce ne sont pas des revenus garantis, ce sont des hypothèses pour montrer la logique. Avec un slot premium à environ 30 euros par mois, en grandissant ville par ville : à peu près 54 000 euros la première année en local, 384 000 la deuxième en régional, et plus d'un million la troisième sur plusieurs villes. Et 3 000 établissements, c'est moins de 2 % du marché. Autrement dit : même une petite part suffit.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déploiement se fait par étapes, sans précipitation. La conception et le site vitrine sont faits. En ce moment, je construis l'appli et les briques clés. Ensuite : un bêta test dans une première ville, puis le lancement officiel avec les premiers abonnements payants, et enfin l'expansion sur d'autres villes avec un grand partenaire national.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Côté marketing : d'abord le terrain — aller voir les restaurateurs un par un, car dans ce métier la confiance se gagne en face à face. Ensuite les réseaux sociaux ciblés, le bouche-à-oreille avec un système de parrainage, et des partenariats avec les écoles hôtelières et les fournisseurs du secteur.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ce moment, je travaille sur : la finalisation de l'appli mobile, la vérification KBIS automatique, le CV boosté à l'IA avec masquage des contacts, et la sécurisation de la base de données. La prochaine grande étape sera de préparer le bêta test sur une première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résumer : je construis l'outil qui manque à tout un secteur. Des centaines de milliers d'établissements cherchent du monde toute l'année ; des milliers de personnes cherchent des missions ; et aujourd'hui tout ça se fait dans le désordre. Mon application y met de l'ordre, de la confiance et de la rapidité. Ce n'est pas fini, et ce ne sera pas facile — mais le plus dur, comprendre le problème et concevoir la solution, est fait. Le reste, c'est de la construction, étape par étape. Merci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57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3" name="Shape 1"/>
          <p:cNvSpPr/>
          <p:nvPr/>
        </p:nvSpPr>
        <p:spPr>
          <a:xfrm>
            <a:off x="9473184" y="457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4" name="Shape 2"/>
          <p:cNvSpPr/>
          <p:nvPr/>
        </p:nvSpPr>
        <p:spPr>
          <a:xfrm>
            <a:off x="9893808" y="457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5" name="Shape 3"/>
          <p:cNvSpPr/>
          <p:nvPr/>
        </p:nvSpPr>
        <p:spPr>
          <a:xfrm>
            <a:off x="10314432" y="457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6" name="Shape 4"/>
          <p:cNvSpPr/>
          <p:nvPr/>
        </p:nvSpPr>
        <p:spPr>
          <a:xfrm>
            <a:off x="10735056" y="457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457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8" name="Shape 6"/>
          <p:cNvSpPr/>
          <p:nvPr/>
        </p:nvSpPr>
        <p:spPr>
          <a:xfrm>
            <a:off x="11576304" y="457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9" name="Shape 7"/>
          <p:cNvSpPr/>
          <p:nvPr/>
        </p:nvSpPr>
        <p:spPr>
          <a:xfrm>
            <a:off x="9052560" y="8778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10" name="Shape 8"/>
          <p:cNvSpPr/>
          <p:nvPr/>
        </p:nvSpPr>
        <p:spPr>
          <a:xfrm>
            <a:off x="9473184" y="8778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1" name="Shape 9"/>
          <p:cNvSpPr/>
          <p:nvPr/>
        </p:nvSpPr>
        <p:spPr>
          <a:xfrm>
            <a:off x="9893808" y="8778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14432" y="8778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35056" y="8778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0" y="8778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76304" y="8778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0" y="12984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473184" y="12984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8" name="Shape 16"/>
          <p:cNvSpPr/>
          <p:nvPr/>
        </p:nvSpPr>
        <p:spPr>
          <a:xfrm>
            <a:off x="9893808" y="12984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314432" y="12984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35056" y="12984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55680" y="12984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76304" y="12984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23" name="Shape 21"/>
          <p:cNvSpPr/>
          <p:nvPr/>
        </p:nvSpPr>
        <p:spPr>
          <a:xfrm>
            <a:off x="9052560" y="17190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24" name="Shape 22"/>
          <p:cNvSpPr/>
          <p:nvPr/>
        </p:nvSpPr>
        <p:spPr>
          <a:xfrm>
            <a:off x="9473184" y="17190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25" name="Shape 23"/>
          <p:cNvSpPr/>
          <p:nvPr/>
        </p:nvSpPr>
        <p:spPr>
          <a:xfrm>
            <a:off x="9893808" y="17190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14432" y="17190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735056" y="17190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55680" y="17190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29" name="Shape 27"/>
          <p:cNvSpPr/>
          <p:nvPr/>
        </p:nvSpPr>
        <p:spPr>
          <a:xfrm>
            <a:off x="11576304" y="17190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68580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D98A2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685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HX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63040" y="758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HORECA EXTRA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63040" y="1060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pour la famille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237744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E9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 qui trouve un serveur fiable
</a:t>
            </a:r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le coup de feu</a:t>
            </a:r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E9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600" dirty="0"/>
          </a:p>
        </p:txBody>
      </p:sp>
      <p:sp>
        <p:nvSpPr>
          <p:cNvPr id="35" name="Text 33"/>
          <p:cNvSpPr/>
          <p:nvPr/>
        </p:nvSpPr>
        <p:spPr>
          <a:xfrm>
            <a:off x="640080" y="452628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restaurant, un hôtel ou un café a besoin de quelqu'un ce soir. En quelques minutes, il trouve un « extra » disponible, vérifié, prêt à travailler.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4008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A2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clair : le bon remplaçant, au bon endroit, en quelques minutes — au lieu de 15 coups de fil.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C'EST QUOI, EN UNE PHRASE 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« Uber » du remplacement pour les métiers de bouche — mais sérieux et vérifié.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06040"/>
            <a:ext cx="1896466" cy="274320"/>
          </a:xfrm>
          <a:prstGeom prst="roundRect">
            <a:avLst>
              <a:gd name="adj" fmla="val 50000"/>
            </a:avLst>
          </a:prstGeom>
          <a:solidFill>
            <a:srgbClr val="F3E1D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1896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240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PROBLÈME AUJOURD'HUI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3255264"/>
            <a:ext cx="146304" cy="146304"/>
          </a:xfrm>
          <a:prstGeom prst="ellipse">
            <a:avLst/>
          </a:prstGeom>
          <a:solidFill>
            <a:srgbClr val="C25A48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3200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patron passe des heures à chercher quelqu'un à la dernière minute.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4005072"/>
            <a:ext cx="146304" cy="146304"/>
          </a:xfrm>
          <a:prstGeom prst="ellipse">
            <a:avLst/>
          </a:prstGeom>
          <a:solidFill>
            <a:srgbClr val="C25A48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9502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sait pas si la personne est fiable — ni si l'employeur en face est sérieux.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05840" y="4754880"/>
            <a:ext cx="146304" cy="146304"/>
          </a:xfrm>
          <a:prstGeom prst="ellipse">
            <a:avLst/>
          </a:prstGeom>
          <a:solidFill>
            <a:srgbClr val="C25A48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4700016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L'extra galère à trouver des missions régulières et bien payées.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05840" y="5504688"/>
            <a:ext cx="146304" cy="146304"/>
          </a:xfrm>
          <a:prstGeom prst="ellipse">
            <a:avLst/>
          </a:prstGeom>
          <a:solidFill>
            <a:srgbClr val="C25A48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544982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passe par le bouche-à-oreille, WhatsApp, des appels… c'est le chaos.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0F3A34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26060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C5049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 SOLUTION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3255264"/>
            <a:ext cx="146304" cy="14630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200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9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patron poste son besoin : « serveur, ce soir, 18h–23h ».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0" y="4005072"/>
            <a:ext cx="146304" cy="14630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39502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9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 propose aussitôt des extras disponibles et vérifiés, à proximité.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754880"/>
            <a:ext cx="146304" cy="14630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700016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9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L'employeur est contrôlé (KBIS), le candidat a un profil propre.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83680" y="5504688"/>
            <a:ext cx="146304" cy="14630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544982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9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mission confirmée : tout le monde est tranquille. En minutes.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L'AMPLEUR DU TRAVAIL ACCOMPLI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n'est pas une idée sur une nappe. C'est une vraie plateforme.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produits qui doivent marcher ensemble : un site public, une appli mobile, une base de données sécurisée, de l'intelligence artificielle et des contrôles de confiance.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0879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478024"/>
            <a:ext cx="365760" cy="365760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24140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vitrine (web)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53312" y="2670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façade publique : explique le concept, attire restaurants et extras, permet l'inscription.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80192" y="2523744"/>
            <a:ext cx="612648" cy="274320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/>
        </p:spPr>
      </p:sp>
      <p:sp>
        <p:nvSpPr>
          <p:cNvPr id="11" name="Text 9"/>
          <p:cNvSpPr/>
          <p:nvPr/>
        </p:nvSpPr>
        <p:spPr>
          <a:xfrm>
            <a:off x="10680192" y="252374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9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CONÇU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058668"/>
            <a:ext cx="1090879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204972"/>
            <a:ext cx="365760" cy="365760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20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409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53312" y="339699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du produit : poster un besoin, recevoir des extras, gérer ses missions depuis son téléphone.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466222" y="3250692"/>
            <a:ext cx="826618" cy="274320"/>
          </a:xfrm>
          <a:prstGeom prst="roundRect">
            <a:avLst>
              <a:gd name="adj" fmla="val 50000"/>
            </a:avLst>
          </a:prstGeom>
          <a:solidFill>
            <a:srgbClr val="FBF1E2"/>
          </a:solidFill>
          <a:ln/>
        </p:spPr>
      </p:sp>
      <p:sp>
        <p:nvSpPr>
          <p:cNvPr id="18" name="Text 16"/>
          <p:cNvSpPr/>
          <p:nvPr/>
        </p:nvSpPr>
        <p:spPr>
          <a:xfrm>
            <a:off x="10466222" y="32506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COURS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1090879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3931920"/>
            <a:ext cx="365760" cy="365760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53312" y="38679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KBIS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53312" y="412394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contrôle que chaque établissement est une vraie société déclarée. Confiance des deux côtés.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466222" y="3977640"/>
            <a:ext cx="826618" cy="274320"/>
          </a:xfrm>
          <a:prstGeom prst="roundRect">
            <a:avLst>
              <a:gd name="adj" fmla="val 50000"/>
            </a:avLst>
          </a:prstGeom>
          <a:solidFill>
            <a:srgbClr val="FBF1E2"/>
          </a:solidFill>
          <a:ln/>
        </p:spPr>
      </p:sp>
      <p:sp>
        <p:nvSpPr>
          <p:cNvPr id="25" name="Text 23"/>
          <p:cNvSpPr/>
          <p:nvPr/>
        </p:nvSpPr>
        <p:spPr>
          <a:xfrm>
            <a:off x="10466222" y="3977640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COURS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512564"/>
            <a:ext cx="1090879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1248" y="4658868"/>
            <a:ext cx="365760" cy="365760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6588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53312" y="45948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boosté à l'IA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53312" y="48508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L'intelligence artificielle transforme un profil brut en CV propre et vendeur pour l'extra.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466222" y="4704588"/>
            <a:ext cx="826618" cy="274320"/>
          </a:xfrm>
          <a:prstGeom prst="roundRect">
            <a:avLst>
              <a:gd name="adj" fmla="val 50000"/>
            </a:avLst>
          </a:prstGeom>
          <a:solidFill>
            <a:srgbClr val="FBF1E2"/>
          </a:solidFill>
          <a:ln/>
        </p:spPr>
      </p:sp>
      <p:sp>
        <p:nvSpPr>
          <p:cNvPr id="32" name="Text 30"/>
          <p:cNvSpPr/>
          <p:nvPr/>
        </p:nvSpPr>
        <p:spPr>
          <a:xfrm>
            <a:off x="10466222" y="4704588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COURS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5239512"/>
            <a:ext cx="1090879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" y="5385816"/>
            <a:ext cx="365760" cy="365760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" y="5385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53312" y="5321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&amp; sécurité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53312" y="55778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des profils, missions et messages — hébergé et sécurisé (comptes, droits, données protégées).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466222" y="5431536"/>
            <a:ext cx="826618" cy="274320"/>
          </a:xfrm>
          <a:prstGeom prst="roundRect">
            <a:avLst>
              <a:gd name="adj" fmla="val 50000"/>
            </a:avLst>
          </a:prstGeom>
          <a:solidFill>
            <a:srgbClr val="FBF1E2"/>
          </a:solidFill>
          <a:ln/>
        </p:spPr>
      </p:sp>
      <p:sp>
        <p:nvSpPr>
          <p:cNvPr id="39" name="Text 37"/>
          <p:cNvSpPr/>
          <p:nvPr/>
        </p:nvSpPr>
        <p:spPr>
          <a:xfrm>
            <a:off x="10466222" y="5431536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COURS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5966460"/>
            <a:ext cx="1090879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41248" y="6112764"/>
            <a:ext cx="365760" cy="365760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" y="61127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353312" y="60487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&amp; matching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353312" y="63047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qui rapproche le bon extra du bon besoin, et permet de communiquer dans l'appli.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537546" y="6158484"/>
            <a:ext cx="755294" cy="274320"/>
          </a:xfrm>
          <a:prstGeom prst="roundRect">
            <a:avLst>
              <a:gd name="adj" fmla="val 50000"/>
            </a:avLst>
          </a:prstGeom>
          <a:solidFill>
            <a:srgbClr val="EBEEEA"/>
          </a:solidFill>
          <a:ln/>
        </p:spPr>
      </p:sp>
      <p:sp>
        <p:nvSpPr>
          <p:cNvPr id="46" name="Text 44"/>
          <p:cNvSpPr/>
          <p:nvPr/>
        </p:nvSpPr>
        <p:spPr>
          <a:xfrm>
            <a:off x="10537546" y="6158484"/>
            <a:ext cx="755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C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À VENIR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LES DEUX IDÉES MALIGNES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détails qui font toute la différence.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42316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FBF1E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2461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CV boosté à l'IA — contacts masqués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39776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rédige un beau CV à partir du parcours de l'extra. Mais son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et son e-mail sont cachés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 recruteur ne peut donc pas contacter la personne « en direct » pour éviter l'appli.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5212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Tout le monde passe par la plateforme : c'est ce qui protège le modèle. La même logique qui a fait le succès d'Airbnb ou LeBonCoin.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0F3A34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42316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C5049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8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32461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E9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vérification KBIS — la confiance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9776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KBIS, c'est la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d'identité officielle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9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d'une entreprise en France. En le vérifiant, on s'assure que chaque employeur est réel et déclaré.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29400" y="52120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i="1" dirty="0">
                <a:solidFill>
                  <a:srgbClr val="9FB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Pour l'extra : la garantie de ne pas tomber sur un employeur douteux. Pour la plateforme : on ne laisse pas entrer n'importe qui.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LE MARCHÉ — POURQUOI C'EST ÉNORME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E9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secteur immense, un manque de personnel chronique.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B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 publics du secteur en France. Le message est simple : le besoin est massif et permanent.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78608" cy="2514600"/>
          </a:xfrm>
          <a:prstGeom prst="roundRect">
            <a:avLst>
              <a:gd name="adj" fmla="val 4364"/>
            </a:avLst>
          </a:prstGeom>
          <a:solidFill>
            <a:srgbClr val="13463E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880360"/>
            <a:ext cx="2578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9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~175</a:t>
            </a:r>
            <a:pPr algn="ctr" indent="0" marL="0">
              <a:buNone/>
            </a:pPr>
            <a:r>
              <a:rPr lang="en-US" sz="30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cafés, hôtels &amp;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en France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514600"/>
            <a:ext cx="2578608" cy="2514600"/>
          </a:xfrm>
          <a:prstGeom prst="roundRect">
            <a:avLst>
              <a:gd name="adj" fmla="val 4364"/>
            </a:avLst>
          </a:prstGeom>
          <a:solidFill>
            <a:srgbClr val="13463E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880360"/>
            <a:ext cx="2578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9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</a:t>
            </a:r>
            <a:pPr algn="ctr" indent="0" marL="0">
              <a:buNone/>
            </a:pPr>
            <a:r>
              <a:rPr lang="en-US" sz="30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0" y="41148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employées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secteur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514600"/>
            <a:ext cx="2578608" cy="2514600"/>
          </a:xfrm>
          <a:prstGeom prst="roundRect">
            <a:avLst>
              <a:gd name="adj" fmla="val 4364"/>
            </a:avLst>
          </a:prstGeom>
          <a:solidFill>
            <a:srgbClr val="13463E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880360"/>
            <a:ext cx="2578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9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</a:t>
            </a:r>
            <a:pPr algn="ctr" indent="0" marL="0">
              <a:buNone/>
            </a:pPr>
            <a:r>
              <a:rPr lang="en-US" sz="30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492240" y="41148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postes non pourvus,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difficiles à recruter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0" y="2514600"/>
            <a:ext cx="2578608" cy="2514600"/>
          </a:xfrm>
          <a:prstGeom prst="roundRect">
            <a:avLst>
              <a:gd name="adj" fmla="val 4364"/>
            </a:avLst>
          </a:prstGeom>
          <a:solidFill>
            <a:srgbClr val="13463E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2880360"/>
            <a:ext cx="2578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9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pPr algn="ctr" indent="0" marL="0">
              <a:buNone/>
            </a:pPr>
            <a:r>
              <a:rPr lang="en-US" sz="30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9326880" y="411480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d'extras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toute l'année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ordres de grandeur issus de données publiques (INSEE, organisations professionnelles de l'hôtellerie-restauration). Chiffres arrondis, à titre indicatif.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LA MONÉTISATION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façons de gagner de l'argent, sans faire payer trop cher.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02152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77440"/>
            <a:ext cx="502920" cy="50292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« slots premium »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79476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établissement paie un petit abonnement (ou à la mission) pour passer en priorité et publier plus de besoins.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4773168"/>
            <a:ext cx="2770632" cy="384048"/>
          </a:xfrm>
          <a:prstGeom prst="roundRect">
            <a:avLst>
              <a:gd name="adj" fmla="val 19048"/>
            </a:avLst>
          </a:prstGeom>
          <a:solidFill>
            <a:srgbClr val="FBF1E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773168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principal : régulier &amp; prévisible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3502152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377440"/>
            <a:ext cx="502920" cy="50292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306324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pub privée dédiée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9160" y="379476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grand acteur national — brasseur, marque de boissons, fournisseur de matériel — sponsorise l'appli, très ciblée sur les pros.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4773168"/>
            <a:ext cx="2770632" cy="384048"/>
          </a:xfrm>
          <a:prstGeom prst="roundRect">
            <a:avLst>
              <a:gd name="adj" fmla="val 19048"/>
            </a:avLst>
          </a:prstGeom>
          <a:solidFill>
            <a:srgbClr val="FBF1E2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4773168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gros partenaire = gros revenu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2011680"/>
            <a:ext cx="3502152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2377440"/>
            <a:ext cx="502920" cy="50292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306324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à valeur ajoutée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12480" y="379476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avant d'un profil, CV boosté premium, statistiques, gestion d'équipe… De petites sommes qui s'additionnent.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12480" y="4773168"/>
            <a:ext cx="2770632" cy="384048"/>
          </a:xfrm>
          <a:prstGeom prst="roundRect">
            <a:avLst>
              <a:gd name="adj" fmla="val 19048"/>
            </a:avLst>
          </a:prstGeom>
          <a:solidFill>
            <a:srgbClr val="FBF1E2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4773168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revenus complémentaires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maligne : comme le contact direct est masqué, personne ne peut contourner l'appli. Chaque mission qui se fait grâce à la plateforme reste dans la plateforme.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LE PRÉVISIONNEL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projection prudente, sur 3 ans.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: ce ne sont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des revenus garantis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mais des hypothèses de travail pour montrer la logique.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724912"/>
            <a:ext cx="137160" cy="13716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premium ≈ 30 €/mois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 établissement abonné (360 €/an).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3438144"/>
            <a:ext cx="137160" cy="13716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3192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grandit ville par ville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zone test, puis on duplique le modèle.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4151376"/>
            <a:ext cx="137160" cy="13716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03250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pub dédiée n'arrive qu'à l'An 2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quand l'audience de pros devient assez grande.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4864608"/>
            <a:ext cx="137160" cy="13716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74573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 établissements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= moins de 2 % du marché français.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1828800"/>
            <a:ext cx="4828032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2057400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projeté (k€ / an)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903720" y="2468880"/>
          <a:ext cx="4416552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illustratifs, pas des promesses. Le message : même avec une petite part du marché, le modèle tient la route.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LE CALENDRIER — LA CHRONOLOGIE DE DÉPLOIEMENT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par étape, sans brûler les étapes.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730959" y="2724912"/>
            <a:ext cx="8727034" cy="0"/>
          </a:xfrm>
          <a:prstGeom prst="line">
            <a:avLst/>
          </a:prstGeom>
          <a:noFill/>
          <a:ln w="25400">
            <a:solidFill>
              <a:srgbClr val="CDD8D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1503" y="2505456"/>
            <a:ext cx="438912" cy="438912"/>
          </a:xfrm>
          <a:prstGeom prst="ellipse">
            <a:avLst/>
          </a:prstGeom>
          <a:solidFill>
            <a:srgbClr val="0F3A34"/>
          </a:solidFill>
          <a:ln w="25400">
            <a:solidFill>
              <a:srgbClr val="0F3A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1503" y="2505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136392"/>
            <a:ext cx="2090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3456432"/>
            <a:ext cx="1962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site vitrine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4325112"/>
            <a:ext cx="1962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est cadrée, le concept est clair, la façade publique existe.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93262" y="2505456"/>
            <a:ext cx="438912" cy="438912"/>
          </a:xfrm>
          <a:prstGeom prst="ellipse">
            <a:avLst/>
          </a:prstGeom>
          <a:solidFill>
            <a:srgbClr val="D98A2B"/>
          </a:solidFill>
          <a:ln w="25400">
            <a:solidFill>
              <a:srgbClr val="D98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3262" y="2505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67558" y="3136392"/>
            <a:ext cx="2090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31566" y="3456432"/>
            <a:ext cx="1962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 l'appli &amp; des briques clés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31566" y="4325112"/>
            <a:ext cx="1962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 mobile, vérification KBIS, CV boosté à l'IA, base de données sécurisée.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75020" y="2505456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DD8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5020" y="2505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9317" y="3136392"/>
            <a:ext cx="2090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PROCHAINE ÉTAPE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13325" y="3456432"/>
            <a:ext cx="1962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Bêta test sur une première zone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13325" y="4325112"/>
            <a:ext cx="1962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dans une ville avec de vrais restaurants et extras, pour tout roder.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56778" y="2505456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DD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56778" y="2505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31075" y="3136392"/>
            <a:ext cx="2090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ENSUITE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95083" y="3456432"/>
            <a:ext cx="1962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officiel &amp; premiers abonnements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95083" y="4325112"/>
            <a:ext cx="1962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au public sur la zone, mise en place des slots premium payants.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238537" y="2505456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DD8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38537" y="2505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12834" y="3136392"/>
            <a:ext cx="2090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PLUS TARD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476842" y="3456432"/>
            <a:ext cx="19623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&amp; partenaire national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76842" y="4325112"/>
            <a:ext cx="196230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duplique le modèle sur d'autres villes et on signe un grand partenaire pub.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LE MARKETING PRÉVU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on va se faire connaître.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457200" cy="457200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3042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terrain, d'abord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72491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voir les restaurateurs un par un dans la zone de lancement. Dans ce métier, la confiance se gagne en face à face.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20116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331720"/>
            <a:ext cx="457200" cy="457200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59752" y="23042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Réseaux sociaux ciblés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59752" y="272491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TikTok, groupes Facebook de pros : là où les extras et les patrons passent déjà leur temps.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343400"/>
            <a:ext cx="457200" cy="457200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3159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Bouche-à-oreille &amp; parrainage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73659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extra content en amène d'autres ; un patron dépanné le dit à ses voisins. On récompense ceux qui invitent.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40233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4343400"/>
            <a:ext cx="457200" cy="457200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59752" y="43159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Écoles &amp; partenaires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9752" y="4736592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Écoles hôtelières, associations, fournisseurs : des relais naturels pour toucher beaucoup de monde d'un coup.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LES CHANTIERS EN COURS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quoi je travaille en ce moment.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0879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231136"/>
            <a:ext cx="402336" cy="402336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Finaliser l'application mobile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459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complet : inscription, publier un besoin, matcher, confirmer une mission.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418674" y="2286000"/>
            <a:ext cx="855878" cy="292608"/>
          </a:xfrm>
          <a:prstGeom prst="roundRect">
            <a:avLst>
              <a:gd name="adj" fmla="val 50000"/>
            </a:avLst>
          </a:prstGeom>
          <a:solidFill>
            <a:srgbClr val="FBF1E2"/>
          </a:solidFill>
          <a:ln/>
        </p:spPr>
      </p:sp>
      <p:sp>
        <p:nvSpPr>
          <p:cNvPr id="10" name="Text 8"/>
          <p:cNvSpPr/>
          <p:nvPr/>
        </p:nvSpPr>
        <p:spPr>
          <a:xfrm>
            <a:off x="10418674" y="2286000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COURS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907792"/>
            <a:ext cx="1090879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9536" y="3081528"/>
            <a:ext cx="402336" cy="402336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0175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KBIS automatique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l'entreprise sans friction, dès l'inscription.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418674" y="3136392"/>
            <a:ext cx="855878" cy="292608"/>
          </a:xfrm>
          <a:prstGeom prst="roundRect">
            <a:avLst>
              <a:gd name="adj" fmla="val 50000"/>
            </a:avLst>
          </a:prstGeom>
          <a:solidFill>
            <a:srgbClr val="FBF1E2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8674" y="3136392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COURS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758184"/>
            <a:ext cx="1090879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3931920"/>
            <a:ext cx="402336" cy="402336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boosté à l'IA + masquage des contacts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1732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 mise en forme automatique ; téléphone et e-mail cachés.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18674" y="3986784"/>
            <a:ext cx="855878" cy="292608"/>
          </a:xfrm>
          <a:prstGeom prst="roundRect">
            <a:avLst>
              <a:gd name="adj" fmla="val 50000"/>
            </a:avLst>
          </a:prstGeom>
          <a:solidFill>
            <a:srgbClr val="FBF1E2"/>
          </a:solidFill>
          <a:ln/>
        </p:spPr>
      </p:sp>
      <p:sp>
        <p:nvSpPr>
          <p:cNvPr id="24" name="Text 22"/>
          <p:cNvSpPr/>
          <p:nvPr/>
        </p:nvSpPr>
        <p:spPr>
          <a:xfrm>
            <a:off x="10418674" y="3986784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COURS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4608576"/>
            <a:ext cx="1090879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9536" y="4782312"/>
            <a:ext cx="402336" cy="402336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471830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la base de données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17320" y="5010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les données personnelles, gérer les comptes et les droits d'accès.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418674" y="4837176"/>
            <a:ext cx="855878" cy="292608"/>
          </a:xfrm>
          <a:prstGeom prst="roundRect">
            <a:avLst>
              <a:gd name="adj" fmla="val 50000"/>
            </a:avLst>
          </a:prstGeom>
          <a:solidFill>
            <a:srgbClr val="FBF1E2"/>
          </a:solidFill>
          <a:ln/>
        </p:spPr>
      </p:sp>
      <p:sp>
        <p:nvSpPr>
          <p:cNvPr id="31" name="Text 29"/>
          <p:cNvSpPr/>
          <p:nvPr/>
        </p:nvSpPr>
        <p:spPr>
          <a:xfrm>
            <a:off x="10418674" y="4837176"/>
            <a:ext cx="855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56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COURS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5458968"/>
            <a:ext cx="1090879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9E2"/>
            </a:solidFill>
            <a:prstDash val="solid"/>
          </a:ln>
          <a:effectLst>
            <a:outerShdw sx="100000" sy="100000" kx="0" ky="0" algn="bl" rotWithShape="0" blurRad="127000" dist="38100" dir="5400000">
              <a:srgbClr val="9AA7A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59536" y="5632704"/>
            <a:ext cx="402336" cy="402336"/>
          </a:xfrm>
          <a:prstGeom prst="ellipse">
            <a:avLst/>
          </a:prstGeom>
          <a:solidFill>
            <a:srgbClr val="0F3A34"/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" y="5632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17320" y="556869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la bêta sur une première zone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417320" y="5861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les premiers restaurants et extras volontaires pour tester.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493654" y="5687568"/>
            <a:ext cx="780898" cy="292608"/>
          </a:xfrm>
          <a:prstGeom prst="roundRect">
            <a:avLst>
              <a:gd name="adj" fmla="val 50000"/>
            </a:avLst>
          </a:prstGeom>
          <a:solidFill>
            <a:srgbClr val="EBEEEA"/>
          </a:solidFill>
          <a:ln/>
        </p:spPr>
      </p:sp>
      <p:sp>
        <p:nvSpPr>
          <p:cNvPr id="38" name="Text 36"/>
          <p:cNvSpPr/>
          <p:nvPr/>
        </p:nvSpPr>
        <p:spPr>
          <a:xfrm>
            <a:off x="10493654" y="5687568"/>
            <a:ext cx="780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C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À VENIR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5212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3" name="Shape 1"/>
          <p:cNvSpPr/>
          <p:nvPr/>
        </p:nvSpPr>
        <p:spPr>
          <a:xfrm>
            <a:off x="9610344" y="5212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4" name="Shape 2"/>
          <p:cNvSpPr/>
          <p:nvPr/>
        </p:nvSpPr>
        <p:spPr>
          <a:xfrm>
            <a:off x="10030968" y="5212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5" name="Shape 3"/>
          <p:cNvSpPr/>
          <p:nvPr/>
        </p:nvSpPr>
        <p:spPr>
          <a:xfrm>
            <a:off x="10451592" y="5212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5212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52120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8" name="Shape 6"/>
          <p:cNvSpPr/>
          <p:nvPr/>
        </p:nvSpPr>
        <p:spPr>
          <a:xfrm>
            <a:off x="9189720" y="56327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9" name="Shape 7"/>
          <p:cNvSpPr/>
          <p:nvPr/>
        </p:nvSpPr>
        <p:spPr>
          <a:xfrm>
            <a:off x="9610344" y="56327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0" name="Shape 8"/>
          <p:cNvSpPr/>
          <p:nvPr/>
        </p:nvSpPr>
        <p:spPr>
          <a:xfrm>
            <a:off x="10030968" y="56327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1" name="Shape 9"/>
          <p:cNvSpPr/>
          <p:nvPr/>
        </p:nvSpPr>
        <p:spPr>
          <a:xfrm>
            <a:off x="10451592" y="56327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72216" y="56327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56327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4" name="Shape 12"/>
          <p:cNvSpPr/>
          <p:nvPr/>
        </p:nvSpPr>
        <p:spPr>
          <a:xfrm>
            <a:off x="9189720" y="60533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610344" y="60533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30968" y="60533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51592" y="60533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98A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72216" y="60533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92840" y="60533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50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POUR RÉSUMER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13716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9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construis l'outil qui manque à tout un secteur.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0080" y="306324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centaines de milliers d'établissements cherchent du monde toute l'année. Des milliers de personnes cherchent des missions. Aujourd'hui, ça se fait dans le désordre.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application y met de l'ordre, de la confiance et de la rapidité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9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et se rémunère intelligemment, sans jamais pouvoir être contournée.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" y="48920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8F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encore fini, et ce ne sera pas facile. Mais la brique la plus dure — comprendre le vrai problème et concevoir la bonne solution — est posée. Le reste, c'est de la construction, étape par étape.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Horeca Extra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Horeca Extra</dc:creator>
  <cp:lastModifiedBy>Horeca Extra</cp:lastModifiedBy>
  <cp:revision>1</cp:revision>
  <dcterms:created xsi:type="dcterms:W3CDTF">2026-07-26T19:20:31Z</dcterms:created>
  <dcterms:modified xsi:type="dcterms:W3CDTF">2026-07-26T19:20:31Z</dcterms:modified>
</cp:coreProperties>
</file>