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 Premium /mois (€)</c:v>
                </c:pt>
              </c:strCache>
            </c:strRef>
          </c:tx>
          <c:spPr>
            <a:solidFill>
              <a:srgbClr val="E63A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A0A09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2 000</c:v>
                  </c:pt>
                  <c:pt idx="3">
                    <c:v>5 000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990</c:v>
                </c:pt>
                <c:pt idx="1">
                  <c:v>4950</c:v>
                </c:pt>
                <c:pt idx="2">
                  <c:v>19800</c:v>
                </c:pt>
                <c:pt idx="3">
                  <c:v>49500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A0A09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3706A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InRush. En une phrase : quand un café, un hôtel ou un restaurant a besoin de quelqu'un ce soir, InRush lui trouve un « extra » — serveur, plongeur, cuisinier — dispo et vérifié, en quelques minutes. Le slogan de la marque : « Ton équipe pour ce soir.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concept : quand un établissement a besoin de renfort, il poste son besoin et InRush lui propose tout de suite des extras dispos et vérifiés à proximité. Fini les 15 coups de fil et le WhatsApp. Une seule app pour deux publics : les établissements et les extras.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n'est pas une idée sur une nappe. C'est déjà une vraie plateforme : environ 64 000 lignes de code, 218 fichiers, 122 versions de la base de données, 22 fonctions serveur. Et trois produits qui marchent ensemble : l'app mobile et web, le site vitrine inrush.work, et le back-office. Le tout branché à des outils pros : Supabase, Stripe, Mapbox.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mécaniques malignes. Un : le fossé. Les coordonnées sont masquées, et le contact direct ne se débloque que dans l'app via Premium — donc personne ne peut contourner InRush. Deux : l'amorçage. On pré-remplit la carte avec des dizaines de milliers d'établissements réels tirés du registre officiel SIRENE, et on les invite. Résultat : dès le premier jour dans une ville, l'app n'est pas 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c'est un gros marché : environ 175 000 établissements en France, près d'un million d'employés, et à peu près 200 000 postes qu'on n'arrive pas à pourvoir. Le besoin est permanent, toute l'année. Ce sont des ordres de grandeur publics, mais ils disent une chose simple : le manque est énorme.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est simple et se fait par établissement. Le premier établissement est gratuit : on entre sans payer, ça remplit l'app. Ensuite, deux options indépendantes : le Premium à 9,90 euros par mois, qui débloque le contact direct des candidats, plus d'annonces et le Vivier ; et le Slot à 4,90 euros par mois, nécessaire pour activer un deuxième, troisième établissement — sinon il reste masqué. C'est ça, « les slots ». La pub avec un acteur national est une piste future, pas encore dans le produit.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prévisionnel est facile à comprendre : chaque établissement Premium, c'est 9,90 euros par mois. 500 établissements, c'est déjà environ 4 950 euros par mois, soit 59 000 par an. 2 000 établissements, presque 240 000 par an. Et 5 000, c'est moins de 3 pour cent du marché français. Ce ne sont pas des promesses — c'est l'ordre de grandeur du potentiel, calculé sur le vrai prix. Les slots à 4,90 s'ajoutent en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déploiement, étape par étape. L'app, le site et la marque sont faits. En ce moment : la soumission aux stores App Store et Google Play. Bientôt : l'ouverture du compte Stripe, qui prend une trentaine de minutes pour activer les paiements. Puis le lancement, ville par ville, sans liste d'attente — la carte est déjà remplie grâce à SIRENE. Et ensuite l'expansion dans toute la France.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Côté marketing, une bonne partie tourne déjà toute seule : la mécanique SIRENE importe les établissements d'une ville et leur envoie des invitations automatiques. À côté : le terrain, en allant voir les patrons ; les réseaux sociaux et le contenu ; et le bouche-à-oreille avec un système de parrainage.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qui reste avant la mise en ligne : soumettre l'app aux stores, activer les paiements Stripe, finaliser le badge Vérifié basé sur le KBIS et le registre SIRENE, étendre le pré-remplissage SIRENE aux villes de lancement, et faire les dernières finitions. On est proche.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résumer : je construis l'infrastructure du coup de feu. Des centaines de milliers d'établissements cherchent du monde toute l'année ; InRush leur apporte de l'ordre, de la confiance et de la vitesse — et se rémunère sans jamais pouvoir être contourné. L'app est construite, la carte est déjà remplie grâce à SIRENE. Il ne reste qu'à ouvrir les portes. Ton équipe pour ce soir. Merci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58952" y="891540"/>
            <a:ext cx="155448" cy="77724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91540"/>
            <a:ext cx="155448" cy="77724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91540"/>
            <a:ext cx="0" cy="169164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969264"/>
            <a:ext cx="310896" cy="0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969264"/>
            <a:ext cx="155448" cy="91440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14400" y="969264"/>
            <a:ext cx="155448" cy="91440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090" y="930402"/>
            <a:ext cx="77724" cy="77724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9" name="Shape 7"/>
          <p:cNvSpPr/>
          <p:nvPr/>
        </p:nvSpPr>
        <p:spPr>
          <a:xfrm>
            <a:off x="1030986" y="930402"/>
            <a:ext cx="77724" cy="77724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10" name="Shape 8"/>
          <p:cNvSpPr/>
          <p:nvPr/>
        </p:nvSpPr>
        <p:spPr>
          <a:xfrm>
            <a:off x="875538" y="1021842"/>
            <a:ext cx="77724" cy="77724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1" name="Shape 9"/>
          <p:cNvSpPr/>
          <p:nvPr/>
        </p:nvSpPr>
        <p:spPr>
          <a:xfrm>
            <a:off x="875538" y="852678"/>
            <a:ext cx="77724" cy="77724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852678" y="763524"/>
            <a:ext cx="123444" cy="137160"/>
          </a:xfrm>
          <a:prstGeom prst="triangle">
            <a:avLst/>
          </a:prstGeom>
          <a:solidFill>
            <a:srgbClr val="FB5A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" y="690372"/>
            <a:ext cx="155448" cy="155448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84225" y="737921"/>
            <a:ext cx="60350" cy="60350"/>
          </a:xfrm>
          <a:prstGeom prst="ellipse">
            <a:avLst/>
          </a:prstGeom>
          <a:solidFill>
            <a:srgbClr val="0A0A09"/>
          </a:solidFill>
          <a:ln/>
        </p:spPr>
      </p:sp>
      <p:sp>
        <p:nvSpPr>
          <p:cNvPr id="15" name="Text 13"/>
          <p:cNvSpPr/>
          <p:nvPr/>
        </p:nvSpPr>
        <p:spPr>
          <a:xfrm>
            <a:off x="1197864" y="621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E9A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PRÉSENTATION FAMILLE · JUILLET 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20116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spc="-14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service</a:t>
            </a:r>
            <a:endParaRPr lang="en-US" sz="5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200" b="1" spc="-14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commence </a:t>
            </a:r>
            <a:endParaRPr lang="en-US" sz="5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200" b="1" spc="-140" kern="0" dirty="0">
                <a:solidFill>
                  <a:srgbClr val="FB5A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maintenant.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TON ÉQUIPE POUR CE SOIR.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 relie les établissements (cafés, hôtels, restaurants) et les extras du secteur, partout en France — du cuistot dispo dans 10 minutes au CDI de saison.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549640" y="2011680"/>
            <a:ext cx="2971800" cy="2926080"/>
          </a:xfrm>
          <a:prstGeom prst="roundRect">
            <a:avLst>
              <a:gd name="adj" fmla="val 5000"/>
            </a:avLst>
          </a:prstGeom>
          <a:solidFill>
            <a:srgbClr val="1F1F1C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23960" y="2286000"/>
            <a:ext cx="1872691" cy="274320"/>
          </a:xfrm>
          <a:prstGeom prst="roundRect">
            <a:avLst>
              <a:gd name="adj" fmla="val 50000"/>
            </a:avLst>
          </a:prstGeom>
          <a:solidFill>
            <a:srgbClr val="E63A12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2286000"/>
            <a:ext cx="1872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⚡ URGENT · DISPO 12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2396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Serveur·se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82396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soir · 18h → 23h · Brasserie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23960" y="3657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pPr indent="0" marL="0">
              <a:buNone/>
            </a:pPr>
            <a:r>
              <a:rPr lang="en-US" sz="1600" b="1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€/h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8823960" y="4251960"/>
            <a:ext cx="2423160" cy="457200"/>
          </a:xfrm>
          <a:prstGeom prst="roundRect">
            <a:avLst>
              <a:gd name="adj" fmla="val 26000"/>
            </a:avLst>
          </a:prstGeom>
          <a:solidFill>
            <a:srgbClr val="E63A12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Je prends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C'EST QUOI, EN UNE PHRASE 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spc="-4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InRush, c'est </a:t>
            </a:r>
            <a:pPr indent="0" marL="0">
              <a:lnSpc>
                <a:spcPct val="98000"/>
              </a:lnSpc>
              <a:buNone/>
            </a:pPr>
            <a:r>
              <a:rPr lang="en-US" sz="3300" i="1" spc="-40" kern="0" dirty="0">
                <a:solidFill>
                  <a:srgbClr val="E63A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l'infrastructure du coup de feu</a:t>
            </a:r>
            <a:pPr indent="0" marL="0">
              <a:lnSpc>
                <a:spcPct val="98000"/>
              </a:lnSpc>
              <a:buNone/>
            </a:pPr>
            <a:r>
              <a:rPr lang="en-US" sz="3300" b="1" spc="-4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Sérieux comme un bon de commande, vivant comme un service complet. Une seule app, deux ressentis : le gérant sent la fiabilité, l'extra sent le mouvement.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85232" cy="370332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834640"/>
            <a:ext cx="1872691" cy="274320"/>
          </a:xfrm>
          <a:prstGeom prst="roundRect">
            <a:avLst>
              <a:gd name="adj" fmla="val 50000"/>
            </a:avLst>
          </a:prstGeom>
          <a:solidFill>
            <a:srgbClr val="E2E4E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34640"/>
            <a:ext cx="18726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B33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AUJOURD'HUI · LA GALÈRE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69848" y="3438144"/>
            <a:ext cx="128016" cy="128016"/>
          </a:xfrm>
          <a:prstGeom prst="ellipse">
            <a:avLst/>
          </a:prstGeom>
          <a:solidFill>
            <a:srgbClr val="2B3340"/>
          </a:solidFill>
          <a:ln/>
        </p:spPr>
      </p:sp>
      <p:sp>
        <p:nvSpPr>
          <p:cNvPr id="9" name="Text 7"/>
          <p:cNvSpPr/>
          <p:nvPr/>
        </p:nvSpPr>
        <p:spPr>
          <a:xfrm>
            <a:off x="1344168" y="3383280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serveur lâche à 17h. Le patron passe 15 coups de fil.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69848" y="4096512"/>
            <a:ext cx="128016" cy="128016"/>
          </a:xfrm>
          <a:prstGeom prst="ellipse">
            <a:avLst/>
          </a:prstGeom>
          <a:solidFill>
            <a:srgbClr val="2B3340"/>
          </a:solidFill>
          <a:ln/>
        </p:spPr>
      </p:sp>
      <p:sp>
        <p:nvSpPr>
          <p:cNvPr id="11" name="Text 9"/>
          <p:cNvSpPr/>
          <p:nvPr/>
        </p:nvSpPr>
        <p:spPr>
          <a:xfrm>
            <a:off x="1344168" y="4041648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Impossible de savoir si la personne est fiable.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69848" y="4754880"/>
            <a:ext cx="128016" cy="128016"/>
          </a:xfrm>
          <a:prstGeom prst="ellipse">
            <a:avLst/>
          </a:prstGeom>
          <a:solidFill>
            <a:srgbClr val="2B3340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168" y="4700016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L'extra, lui, court après des missions régulières.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69848" y="5413248"/>
            <a:ext cx="128016" cy="128016"/>
          </a:xfrm>
          <a:prstGeom prst="ellipse">
            <a:avLst/>
          </a:prstGeom>
          <a:solidFill>
            <a:srgbClr val="2B3340"/>
          </a:solidFill>
          <a:ln/>
        </p:spPr>
      </p:sp>
      <p:sp>
        <p:nvSpPr>
          <p:cNvPr id="15" name="Text 13"/>
          <p:cNvSpPr/>
          <p:nvPr/>
        </p:nvSpPr>
        <p:spPr>
          <a:xfrm>
            <a:off x="1344168" y="5358384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Tout se fait par WhatsApp et bouche-à-oreille. Le chaos.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514600"/>
            <a:ext cx="5285232" cy="3703320"/>
          </a:xfrm>
          <a:prstGeom prst="roundRect">
            <a:avLst>
              <a:gd name="adj" fmla="val 3951"/>
            </a:avLst>
          </a:prstGeom>
          <a:solidFill>
            <a:srgbClr val="0A0A09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834640"/>
            <a:ext cx="1942186" cy="274320"/>
          </a:xfrm>
          <a:prstGeom prst="roundRect">
            <a:avLst>
              <a:gd name="adj" fmla="val 50000"/>
            </a:avLst>
          </a:prstGeom>
          <a:solidFill>
            <a:srgbClr val="E63A1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34640"/>
            <a:ext cx="1942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AVEC INRUSH · EN MINUTES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7688" y="3438144"/>
            <a:ext cx="128016" cy="128016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20" name="Text 18"/>
          <p:cNvSpPr/>
          <p:nvPr/>
        </p:nvSpPr>
        <p:spPr>
          <a:xfrm>
            <a:off x="6922008" y="3383280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patron poste : « serveur, ce soir, 18h–23h ».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47688" y="4096512"/>
            <a:ext cx="128016" cy="128016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4041648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 propose aussitôt des extras dispos &amp; vérifiés, à côté.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47688" y="4754880"/>
            <a:ext cx="128016" cy="128016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24" name="Text 22"/>
          <p:cNvSpPr/>
          <p:nvPr/>
        </p:nvSpPr>
        <p:spPr>
          <a:xfrm>
            <a:off x="6922008" y="4700016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L'établissement est contrôlé (SIREN/INSEE), le profil est net.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47688" y="5413248"/>
            <a:ext cx="128016" cy="128016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26" name="Text 24"/>
          <p:cNvSpPr/>
          <p:nvPr/>
        </p:nvSpPr>
        <p:spPr>
          <a:xfrm>
            <a:off x="6922008" y="5358384"/>
            <a:ext cx="4325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Match, mission confirmée. « Je prends. » Tout le monde est tranquille.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L'AMPLEUR DU TRAVAIL ACCOMPLI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 une maquette. Une vraie plateforme, déjà construite.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57860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~64</a:t>
            </a:r>
            <a:pPr algn="ctr" indent="0" marL="0">
              <a:buNone/>
            </a:pPr>
            <a:r>
              <a:rPr lang="en-US" sz="22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lignes de code (Dart)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783080"/>
            <a:ext cx="257860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218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8346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fichiers dans l'app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257860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122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migrations base de données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783080"/>
            <a:ext cx="257860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326880" y="28346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fonctions serveur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3502152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27024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L'application mobile &amp; web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91032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Flutter — iOS, Android et web. Le cœur du produit : poster, matcher, confirmer une mission.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502152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427024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site vitrine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491032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inrush.work — la façade publique (Astro), qui attire établissements et extras.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3611880"/>
            <a:ext cx="3502152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27024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back-office (QG)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491032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Next.js — l'outil interne de pilotage : modération, slots, statistiques.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Sous le capot : Supabase (base + sécurité), Stripe (paiements, prêt à activer), Mapbox (carte), notifications push. Chiffres comptés dans le dépôt réel.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LES IDÉES MALIGNES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mécaniques qui font la différence.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85232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31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1E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fossé : le contact ne fuit pas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4553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numéros et e-mails sont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63A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masqués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dans les données publiques. Le contact direct ne se débloque que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63A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dans l'app, via Premium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4846320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Personne ne peut contourner InRush pour traiter en direct. C'est ce qui protège le modèle (la logique d'Airbnb ou LeBonCoin).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285232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331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1ED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310896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L'amorçage : la carte n'est jamais vide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3657600"/>
            <a:ext cx="4553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 pré-remplit la carte avec des dizaines de milliers d'établissements réels, importés du registre officiel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63A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SIRENE (INSEE)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4846320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Dès le 1er jour dans une ville, l'app est déjà remplie — et chaque établissement reçoit une invitation. La vérification SIREN/SIRET garantit le sérieux.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LE MARCHÉ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secteur immense, en manque permanent de bras.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CHR (cafés-hôtels-restaurants) en France. Ordres de grandeur publics — le besoin d'extras existe toute l'année.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578608" cy="2560320"/>
          </a:xfrm>
          <a:prstGeom prst="roundRect">
            <a:avLst>
              <a:gd name="adj" fmla="val 5714"/>
            </a:avLst>
          </a:prstGeom>
          <a:solidFill>
            <a:srgbClr val="1F1F1C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834640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~175</a:t>
            </a:r>
            <a:pPr algn="ctr" indent="0" marL="0">
              <a:buNone/>
            </a:pPr>
            <a:r>
              <a:rPr lang="en-US" sz="2600" b="1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établissements CHR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France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2514600"/>
            <a:ext cx="2578608" cy="2560320"/>
          </a:xfrm>
          <a:prstGeom prst="roundRect">
            <a:avLst>
              <a:gd name="adj" fmla="val 5714"/>
            </a:avLst>
          </a:prstGeom>
          <a:solidFill>
            <a:srgbClr val="1F1F1C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834640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</a:t>
            </a:r>
            <a:pPr algn="ctr" indent="0" marL="0">
              <a:buNone/>
            </a:pPr>
            <a:r>
              <a:rPr lang="en-US" sz="2600" b="1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0" y="406908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personnes employées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dans le secteur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2578608" cy="2560320"/>
          </a:xfrm>
          <a:prstGeom prst="roundRect">
            <a:avLst>
              <a:gd name="adj" fmla="val 5714"/>
            </a:avLst>
          </a:prstGeom>
          <a:solidFill>
            <a:srgbClr val="1F1F1C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834640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</a:t>
            </a:r>
            <a:pPr algn="ctr" indent="0" marL="0">
              <a:buNone/>
            </a:pPr>
            <a:r>
              <a:rPr lang="en-US" sz="2600" b="1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92240" y="406908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postes non pourvus,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durs à recruter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0" y="2514600"/>
            <a:ext cx="2578608" cy="2560320"/>
          </a:xfrm>
          <a:prstGeom prst="roundRect">
            <a:avLst>
              <a:gd name="adj" fmla="val 5714"/>
            </a:avLst>
          </a:prstGeom>
          <a:solidFill>
            <a:srgbClr val="1F1F1C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834640"/>
            <a:ext cx="2578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365</a:t>
            </a:r>
            <a:pPr algn="ctr" indent="0" marL="0">
              <a:buNone/>
            </a:pPr>
            <a:r>
              <a:rPr lang="en-US" sz="2600" b="1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326880" y="406908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besoin d'extras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existe toute l'année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 : ordres de grandeur publics (INSEE, organisations professionnelles de l'hôtellerie-restauration). Chiffres arrondis, indicatifs.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LA MONÉTISATION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Simple, par établissement. Le 1er est gratuit.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502152" cy="3063240"/>
          </a:xfrm>
          <a:prstGeom prst="roundRect">
            <a:avLst>
              <a:gd name="adj" fmla="val 4776"/>
            </a:avLst>
          </a:prstGeom>
          <a:solidFill>
            <a:srgbClr val="F2F1E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60781" cy="274320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7607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GRATUIT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1er établissement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0 €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plus ancien de chaque compte est gratuit. On entre sans payer — l'app se remplit.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02152" cy="3063240"/>
          </a:xfrm>
          <a:prstGeom prst="roundRect">
            <a:avLst>
              <a:gd name="adj" fmla="val 4776"/>
            </a:avLst>
          </a:prstGeom>
          <a:solidFill>
            <a:srgbClr val="0A0A09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194560"/>
            <a:ext cx="1455725" cy="274320"/>
          </a:xfrm>
          <a:prstGeom prst="roundRect">
            <a:avLst>
              <a:gd name="adj" fmla="val 50000"/>
            </a:avLst>
          </a:prstGeom>
          <a:solidFill>
            <a:srgbClr val="E63A1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194560"/>
            <a:ext cx="14557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 ÉTABLISSEMENT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26060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Premium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30175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9,90 €</a:t>
            </a:r>
            <a:pPr indent="0" marL="0">
              <a:buNone/>
            </a:pPr>
            <a:r>
              <a:rPr lang="en-US" sz="1300" b="1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/mois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365760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Débloque le contact direct des candidats, 10 annonces (au lieu d'1), le Vivier, le découpage de mission.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874520"/>
            <a:ext cx="3502152" cy="3063240"/>
          </a:xfrm>
          <a:prstGeom prst="roundRect">
            <a:avLst>
              <a:gd name="adj" fmla="val 4776"/>
            </a:avLst>
          </a:prstGeom>
          <a:solidFill>
            <a:srgbClr val="F2F1E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194560"/>
            <a:ext cx="1525219" cy="274320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194560"/>
            <a:ext cx="1525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ÉTABLISSEMENT EN 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26060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Slot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12480" y="30175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4,90 €</a:t>
            </a:r>
            <a:pPr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/mois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412480" y="365760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 activer un 2e, 3e… établissement. Sans slot, il reste masqué. C'est ça, « les slots ».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Exemples réels : </a:t>
            </a:r>
            <a:pPr indent="0" marL="0">
              <a:buNone/>
            </a:pPr>
            <a:r>
              <a:rPr lang="en-US" sz="12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établissement = 0 € · 1er en Premium = 9,90 € · un 2e établissement basique = 4,90 € · un 2e en Premium = 4,90 + 9,90 = 14,80 €/mois.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Piste future (pas encore dans le produit) : une pub privée dédiée à un acteur national du CHR. Revenu d'appoint, non chiffré ici.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LE PRÉVISIONNEL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calcul est limpide : il suffit de compter les établissements.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Illustration à partir des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63A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prix réels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(Premium 9,90 €). Ce ne sont pas des revenus garantis, mais l'ordre de grandeur du potentiel.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562356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06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 établissements Premium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69080" y="2606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990 € /mois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64408"/>
            <a:ext cx="562356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264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 établissements Premium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32644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4 950 € /mois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922776"/>
            <a:ext cx="562356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9227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2 000 établissements Premium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69080" y="392277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19 800 € /mois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81144"/>
            <a:ext cx="562356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5811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5 000 établissements Premium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69080" y="45811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49 500 € /mois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5 000 établissements = moins de 3 % du marché français. Et le Slot (4,90 €) pour les établissements supplémentaires s'ajoute par-dessus.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4828032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205740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 Premium mensuel (€) selon le nb d'établissements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858000" y="2651760"/>
          <a:ext cx="4462272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7040880" y="562356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Établissements Premium →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LE CALENDRIER DE DÉPLOIEMENT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Tout est prêt. On approche de la mise en ligne.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76679" y="2770632"/>
            <a:ext cx="8727034" cy="0"/>
          </a:xfrm>
          <a:prstGeom prst="line">
            <a:avLst/>
          </a:prstGeom>
          <a:noFill/>
          <a:ln w="25400">
            <a:solidFill>
              <a:srgbClr val="E5E3D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57223" y="2551176"/>
            <a:ext cx="438912" cy="438912"/>
          </a:xfrm>
          <a:prstGeom prst="ellipse">
            <a:avLst/>
          </a:prstGeom>
          <a:solidFill>
            <a:srgbClr val="0A0A09"/>
          </a:solidFill>
          <a:ln w="25400">
            <a:solidFill>
              <a:srgbClr val="0A0A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7223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95528" y="3502152"/>
            <a:ext cx="19623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App, site &amp; marque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" y="4325112"/>
            <a:ext cx="19257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L'app (mobile + web), le site inrush.work et l'identité InRush sont construits.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38982" y="2551176"/>
            <a:ext cx="438912" cy="438912"/>
          </a:xfrm>
          <a:prstGeom prst="ellipse">
            <a:avLst/>
          </a:prstGeom>
          <a:solidFill>
            <a:srgbClr val="E63A12"/>
          </a:solidFill>
          <a:ln w="25400">
            <a:solidFill>
              <a:srgbClr val="E63A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8982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13278" y="318211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MAINTENANT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7286" y="3502152"/>
            <a:ext cx="19623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Soumission aux stores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5574" y="4325112"/>
            <a:ext cx="19257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Préparation App Store &amp; Google Play (fiches, visuels, conformité).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20740" y="255117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0740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95037" y="318211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BIENTÔT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59045" y="3502152"/>
            <a:ext cx="19623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Activation des paiements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7333" y="4325112"/>
            <a:ext cx="19257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Ouverture du compte Stripe → ~30 min pour activer Premium &amp; Slots.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2498" y="255117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2498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76795" y="318211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LANCEMENT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40803" y="3502152"/>
            <a:ext cx="19623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Ouverture ville par ville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59091" y="4325112"/>
            <a:ext cx="19257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Sans liste d'attente. On ouvre une 1re zone, carte déjà remplie (SIRENE).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84257" y="255117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3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4257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58554" y="318211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ENSUITE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22562" y="3502152"/>
            <a:ext cx="19623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Expansion en France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40850" y="4325112"/>
            <a:ext cx="19257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duplique ville par ville, avec l'outreach automatique aux établissements.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LE MARKETING PRÉVU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machine d'acquisition déjà branchée.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3492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37360" y="23042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mécanique SIRENE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76148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 des établissements d'une ville + e-mails d'invitation automatiques. L'acquisition tourne toute seule.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2011680"/>
            <a:ext cx="53492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96912" y="23042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terrain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96912" y="276148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Rencontrer les patrons CHR dans la zone de lancement. La confiance se gagne au comptoir.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53492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315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43159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Réseaux &amp; contenu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77316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Instagram, TikTok, groupes de pros — là où extras et gérants passent déjà leur temps.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3492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4315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96912" y="43159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Bouche-à-oreille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96912" y="477316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extra content en amène d'autres ; un patron dépanné le dit à ses voisins. Parrainage.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LES CHANTIERS EN COURS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6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qui reste avant la mise en ligne.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90879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21214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Soumettre l'app aux stores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45920" y="24140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Fiches, visuels et conformité pour App Store &amp; Google Play.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446106" y="2240280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/>
        </p:spPr>
      </p:sp>
      <p:sp>
        <p:nvSpPr>
          <p:cNvPr id="9" name="Text 7"/>
          <p:cNvSpPr/>
          <p:nvPr/>
        </p:nvSpPr>
        <p:spPr>
          <a:xfrm>
            <a:off x="10446106" y="2240280"/>
            <a:ext cx="874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COURS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862072"/>
            <a:ext cx="1090879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86207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297180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Activer les paiements Stripe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45920" y="32644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Ouvrir le compte, brancher Premium &amp; Slots (aujourd'hui en mode démo).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446106" y="3090672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446106" y="3090672"/>
            <a:ext cx="874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COURS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712464"/>
            <a:ext cx="1090879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71246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8221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Badge « Vérifié » (KBIS)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45920" y="4114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 du KBIS + contrôle automatique contre le registre SIRENE.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446106" y="3941064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446106" y="3941064"/>
            <a:ext cx="874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COURS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562856"/>
            <a:ext cx="1090879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45628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467258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Ingestion SIRENE par ville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645920" y="49651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Étendre le pré-remplissage aux villes de lancement.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446106" y="4791456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FFF1ED"/>
          </a:solidFill>
          <a:ln/>
        </p:spPr>
      </p:sp>
      <p:sp>
        <p:nvSpPr>
          <p:cNvPr id="27" name="Text 25"/>
          <p:cNvSpPr/>
          <p:nvPr/>
        </p:nvSpPr>
        <p:spPr>
          <a:xfrm>
            <a:off x="10446106" y="4791456"/>
            <a:ext cx="874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COURS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5413248"/>
            <a:ext cx="1090879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5400000">
              <a:srgbClr val="8C877E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541324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45920" y="552297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0A0A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Finitions &amp; tests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45920" y="58155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0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Derniers réglages qualité avant l'ouverture au public.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521086" y="5641848"/>
            <a:ext cx="799186" cy="292608"/>
          </a:xfrm>
          <a:prstGeom prst="roundRect">
            <a:avLst>
              <a:gd name="adj" fmla="val 50000"/>
            </a:avLst>
          </a:prstGeom>
          <a:solidFill>
            <a:srgbClr val="F2F1EF"/>
          </a:solidFill>
          <a:ln/>
        </p:spPr>
      </p:sp>
      <p:sp>
        <p:nvSpPr>
          <p:cNvPr id="33" name="Text 31"/>
          <p:cNvSpPr/>
          <p:nvPr/>
        </p:nvSpPr>
        <p:spPr>
          <a:xfrm>
            <a:off x="10521086" y="5641848"/>
            <a:ext cx="799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7370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VENIR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★ POUR RÉSUMER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Je construis </a:t>
            </a:r>
            <a:pPr indent="0" marL="0">
              <a:lnSpc>
                <a:spcPct val="100000"/>
              </a:lnSpc>
              <a:buNone/>
            </a:pPr>
            <a:r>
              <a:rPr lang="en-US" sz="4000" b="1" i="1" spc="-100" kern="0" dirty="0">
                <a:solidFill>
                  <a:srgbClr val="FB5A3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l'infrastructure du coup de feu</a:t>
            </a:r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 centaines de milliers d'établissements cherchent du monde toute l'année. InRush leur apporte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B5A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l'ordre, de la confiance et de la vitesse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E9A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— et se rémunère sans jamais pouvoir être contourné. L'app est construite, la carte est déjà remplie. Il reste à ouvrir les portes.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B5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TON ÉQUIPE POUR CE SOIR.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H="1">
            <a:off x="747979" y="5974461"/>
            <a:ext cx="132131" cy="66065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0110" y="5974461"/>
            <a:ext cx="132131" cy="66065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0110" y="5974461"/>
            <a:ext cx="0" cy="143789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" y="6040526"/>
            <a:ext cx="264262" cy="0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979" y="6040526"/>
            <a:ext cx="132131" cy="77724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80110" y="6040526"/>
            <a:ext cx="132131" cy="77724"/>
          </a:xfrm>
          <a:prstGeom prst="line">
            <a:avLst/>
          </a:prstGeom>
          <a:noFill/>
          <a:ln w="17780">
            <a:solidFill>
              <a:srgbClr val="F5EF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4947" y="6007494"/>
            <a:ext cx="66065" cy="66065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3" name="Shape 11"/>
          <p:cNvSpPr/>
          <p:nvPr/>
        </p:nvSpPr>
        <p:spPr>
          <a:xfrm>
            <a:off x="979208" y="6007494"/>
            <a:ext cx="66065" cy="66065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47077" y="6085218"/>
            <a:ext cx="66065" cy="66065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077" y="5941428"/>
            <a:ext cx="66065" cy="66065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827646" y="5865647"/>
            <a:ext cx="104927" cy="116586"/>
          </a:xfrm>
          <a:prstGeom prst="triangle">
            <a:avLst/>
          </a:prstGeom>
          <a:solidFill>
            <a:srgbClr val="FB5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4045" y="5803468"/>
            <a:ext cx="132131" cy="132131"/>
          </a:xfrm>
          <a:prstGeom prst="ellipse">
            <a:avLst/>
          </a:prstGeom>
          <a:solidFill>
            <a:srgbClr val="FB5A33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461" y="5843885"/>
            <a:ext cx="51298" cy="51298"/>
          </a:xfrm>
          <a:prstGeom prst="ellipse">
            <a:avLst/>
          </a:prstGeom>
          <a:solidFill>
            <a:srgbClr val="0A0A09"/>
          </a:solidFill>
          <a:ln/>
        </p:spPr>
      </p:sp>
      <p:sp>
        <p:nvSpPr>
          <p:cNvPr id="19" name="Text 17"/>
          <p:cNvSpPr/>
          <p:nvPr/>
        </p:nvSpPr>
        <p:spPr>
          <a:xfrm>
            <a:off x="1121054" y="574243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0" b="1" spc="-80" kern="0" dirty="0">
                <a:solidFill>
                  <a:srgbClr val="F5EF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InRush</a:t>
            </a:r>
            <a:endParaRPr lang="en-US" sz="1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InRush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InRush</dc:creator>
  <cp:lastModifiedBy>InRush</cp:lastModifiedBy>
  <cp:revision>1</cp:revision>
  <dcterms:created xsi:type="dcterms:W3CDTF">2026-07-26T19:40:28Z</dcterms:created>
  <dcterms:modified xsi:type="dcterms:W3CDTF">2026-07-26T19:40:28Z</dcterms:modified>
</cp:coreProperties>
</file>